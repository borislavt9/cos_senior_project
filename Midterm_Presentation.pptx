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44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4575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039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0"/>
            <a:ext cx="2377440" cy="5143500"/>
          </a:xfrm>
          <a:prstGeom prst="rect">
            <a:avLst/>
          </a:prstGeom>
          <a:solidFill>
            <a:srgbClr val="2E75B6">
              <a:alpha val="22000"/>
            </a:srgbClr>
          </a:solidFill>
          <a:ln w="12700">
            <a:solidFill>
              <a:srgbClr val="2E75B6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Document Search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CADCFC"/>
                </a:solidFill>
              </a:rPr>
              <a:t>and Extraction System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48640" y="2670048"/>
            <a:ext cx="1280160" cy="54864"/>
          </a:xfrm>
          <a:prstGeom prst="rect">
            <a:avLst/>
          </a:prstGeom>
          <a:solidFill>
            <a:srgbClr val="C85A11"/>
          </a:solidFill>
          <a:ln w="12700">
            <a:solidFill>
              <a:srgbClr val="C85A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34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</a:rPr>
              <a:t>Bulgarian Diploma Thesis  ·  COS 4091 Senior Project  ·  AUBG </a:t>
            </a:r>
            <a:r>
              <a:rPr lang="en-US" sz="1200" dirty="0" smtClean="0">
                <a:solidFill>
                  <a:srgbClr val="94A3B8"/>
                </a:solidFill>
              </a:rPr>
              <a:t>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1821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Department of Computer Science, Blagoevgrad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657600"/>
            <a:ext cx="6035040" cy="1024128"/>
          </a:xfrm>
          <a:prstGeom prst="rect">
            <a:avLst/>
          </a:prstGeom>
          <a:solidFill>
            <a:srgbClr val="0F1E35"/>
          </a:solidFill>
          <a:ln w="1905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7033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</a:rPr>
              <a:t>Scans office documents (PDF, DOCX, XLSX, TXT) · Extracts named field values with regex rules · Indexes them in a hand-built AVL tree for O(log n) queries · Persists everything to JSON · Written in C++17 from scratch.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49808" y="8229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</a:rPr>
              <a:t>Overview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B4A"/>
                </a:solidFill>
              </a:rPr>
              <a:t>What this presentation covers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207008"/>
            <a:ext cx="73152" cy="2560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070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</a:rPr>
              <a:t>Sections 1 through 3.2 of the thesis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627632"/>
            <a:ext cx="1554480" cy="28346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627632"/>
            <a:ext cx="1554480" cy="40233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6276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2920" y="208483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Introduction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" y="2596896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Project context, motivation, tool stack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112264" y="1627632"/>
            <a:ext cx="1554480" cy="28346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112264" y="1627632"/>
            <a:ext cx="1554480" cy="40233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12264" y="16276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203704" y="208483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Python → C++17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85416" y="2596896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Why the prototype was rewritten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13048" y="1627632"/>
            <a:ext cx="1554480" cy="28346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13048" y="1627632"/>
            <a:ext cx="1554480" cy="402336"/>
          </a:xfrm>
          <a:prstGeom prst="rect">
            <a:avLst/>
          </a:prstGeom>
          <a:solidFill>
            <a:srgbClr val="C85A11"/>
          </a:solidFill>
          <a:ln w="12700">
            <a:solidFill>
              <a:srgbClr val="C85A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13048" y="16276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904488" y="208483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Requirements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86200" y="2596896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 smtClean="0">
                <a:solidFill>
                  <a:srgbClr val="64748B"/>
                </a:solidFill>
              </a:rPr>
              <a:t>FR1-FR9</a:t>
            </a:r>
            <a:r>
              <a:rPr lang="en-US" sz="950" dirty="0">
                <a:solidFill>
                  <a:srgbClr val="64748B"/>
                </a:solidFill>
              </a:rPr>
              <a:t>, NFRs, use cases, traceability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13832" y="1627632"/>
            <a:ext cx="1554480" cy="28346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13832" y="1627632"/>
            <a:ext cx="1554480" cy="402336"/>
          </a:xfrm>
          <a:prstGeom prst="rect">
            <a:avLst/>
          </a:prstGeom>
          <a:solidFill>
            <a:srgbClr val="5B3092"/>
          </a:solidFill>
          <a:ln w="12700">
            <a:solidFill>
              <a:srgbClr val="5B309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16276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605272" y="208483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Architecture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86984" y="2596896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Six-layer design, UML diagrams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214616" y="1627632"/>
            <a:ext cx="1554480" cy="283464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14616" y="1627632"/>
            <a:ext cx="1554480" cy="402336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14616" y="16276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306056" y="208483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AVL Tree Design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87768" y="2596896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Algorithm, rotations, complexity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49808" y="8229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</a:rPr>
              <a:t>Introduction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B4A"/>
                </a:solidFill>
              </a:rPr>
              <a:t>The problem this project solves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4114800" cy="31546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72768"/>
            <a:ext cx="91440" cy="3154680"/>
          </a:xfrm>
          <a:prstGeom prst="rect">
            <a:avLst/>
          </a:prstGeom>
          <a:solidFill>
            <a:srgbClr val="C85A11"/>
          </a:solidFill>
          <a:ln w="12700">
            <a:solidFill>
              <a:srgbClr val="C85A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6642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5A11"/>
                </a:solidFill>
              </a:rPr>
              <a:t>The real-world problem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</a:rPr>
              <a:t>A small accounting office accumulates thousands of invoices, contracts and reports. Finding a specific invoice by number means opening files one by one.
Asking 'how many invoices exceeded 2,000 BGN last quarter?' is essentially unanswerable with standard tools.
</a:t>
            </a:r>
            <a:r>
              <a:rPr lang="en-US" sz="1150" dirty="0" smtClean="0">
                <a:solidFill>
                  <a:srgbClr val="1E293B"/>
                </a:solidFill>
              </a:rPr>
              <a:t>With my program you can easily search trough hundreds of documents to find a key word/symbol/number that is needed in the current moment.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1572768"/>
            <a:ext cx="4069080" cy="31546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572768"/>
            <a:ext cx="91440" cy="31546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16642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</a:rPr>
              <a:t>Why existing tools don't help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10328" y="2048256"/>
            <a:ext cx="3611880" cy="566928"/>
          </a:xfrm>
          <a:prstGeom prst="rect">
            <a:avLst/>
          </a:prstGeom>
          <a:solidFill>
            <a:srgbClr val="E2E8F0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01768" y="21031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Apache Tika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01768" y="23042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Parses documents </a:t>
            </a:r>
            <a:r>
              <a:rPr lang="en-US" sz="950" dirty="0" smtClean="0">
                <a:solidFill>
                  <a:srgbClr val="64748B"/>
                </a:solidFill>
              </a:rPr>
              <a:t>- </a:t>
            </a:r>
            <a:r>
              <a:rPr lang="en-US" sz="950" dirty="0">
                <a:solidFill>
                  <a:srgbClr val="64748B"/>
                </a:solidFill>
              </a:rPr>
              <a:t>but does not index named field values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10328" y="2706624"/>
            <a:ext cx="3611880" cy="566928"/>
          </a:xfrm>
          <a:prstGeom prst="rect">
            <a:avLst/>
          </a:prstGeom>
          <a:solidFill>
            <a:srgbClr val="E2E8F0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01768" y="27614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SQLite FTS5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01768" y="29626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Indexes text </a:t>
            </a:r>
            <a:r>
              <a:rPr lang="en-US" sz="950" dirty="0" smtClean="0">
                <a:solidFill>
                  <a:srgbClr val="64748B"/>
                </a:solidFill>
              </a:rPr>
              <a:t>- </a:t>
            </a:r>
            <a:r>
              <a:rPr lang="en-US" sz="950" dirty="0">
                <a:solidFill>
                  <a:srgbClr val="64748B"/>
                </a:solidFill>
              </a:rPr>
              <a:t>but does not extract structured fields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10328" y="3364992"/>
            <a:ext cx="3611880" cy="566928"/>
          </a:xfrm>
          <a:prstGeom prst="rect">
            <a:avLst/>
          </a:prstGeom>
          <a:solidFill>
            <a:srgbClr val="E2E8F0"/>
          </a:solidFill>
          <a:ln w="1016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01768" y="34198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grep / find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01768" y="36210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Finds keywords </a:t>
            </a:r>
            <a:r>
              <a:rPr lang="en-US" sz="950" dirty="0" smtClean="0">
                <a:solidFill>
                  <a:srgbClr val="64748B"/>
                </a:solidFill>
              </a:rPr>
              <a:t>- </a:t>
            </a:r>
            <a:r>
              <a:rPr lang="en-US" sz="950" dirty="0">
                <a:solidFill>
                  <a:srgbClr val="64748B"/>
                </a:solidFill>
              </a:rPr>
              <a:t>no field extraction, no range queries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910328" y="4023360"/>
            <a:ext cx="3611880" cy="566928"/>
          </a:xfrm>
          <a:prstGeom prst="rect">
            <a:avLst/>
          </a:prstGeom>
          <a:solidFill>
            <a:srgbClr val="D5F0E0"/>
          </a:solidFill>
          <a:ln w="19050">
            <a:solidFill>
              <a:srgbClr val="1A7A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01768" y="40782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3C"/>
                </a:solidFill>
              </a:rPr>
              <a:t>This system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01768" y="42793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Parses + extracts fields + indexes in AVL tree → O(log n) queries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49808" y="8229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</a:rPr>
              <a:t>Introduction · Technology Stack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B4A"/>
                </a:solidFill>
              </a:rPr>
              <a:t>What the system is built with and why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554480"/>
            <a:ext cx="1591056" cy="318211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54480"/>
            <a:ext cx="1591056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" y="1572768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C++17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" y="2084832"/>
            <a:ext cx="1371600" cy="23774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20848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5B6"/>
                </a:solidFill>
              </a:rPr>
              <a:t>Core language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377440"/>
            <a:ext cx="140817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Manual memory management makes the data structures visible. ZIP/XML parsing at byte level. Faster than Python for bulk file work.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39112" y="1554480"/>
            <a:ext cx="1591056" cy="318211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39112" y="1554480"/>
            <a:ext cx="1591056" cy="4754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93976" y="1572768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CMake 3.16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148840" y="2084832"/>
            <a:ext cx="1371600" cy="237744"/>
          </a:xfrm>
          <a:prstGeom prst="rect">
            <a:avLst/>
          </a:prstGeom>
          <a:solidFill>
            <a:srgbClr val="C8ECEB"/>
          </a:solidFill>
          <a:ln w="12700">
            <a:solidFill>
              <a:srgbClr val="C8EC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48840" y="20848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7377"/>
                </a:solidFill>
              </a:rPr>
              <a:t>Build system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30552" y="2377440"/>
            <a:ext cx="140817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FetchContent pulls all dependencies automatically. Single build.bat for Windows. Cross-platform </a:t>
            </a:r>
            <a:r>
              <a:rPr lang="en-US" sz="900" dirty="0" smtClean="0">
                <a:solidFill>
                  <a:srgbClr val="64748B"/>
                </a:solidFill>
              </a:rPr>
              <a:t>- </a:t>
            </a:r>
            <a:r>
              <a:rPr lang="en-US" sz="900" dirty="0">
                <a:solidFill>
                  <a:srgbClr val="64748B"/>
                </a:solidFill>
              </a:rPr>
              <a:t>same code builds on Linux/MSVC.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58184" y="1554480"/>
            <a:ext cx="1591056" cy="318211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58184" y="1554480"/>
            <a:ext cx="1591056" cy="475488"/>
          </a:xfrm>
          <a:prstGeom prst="rect">
            <a:avLst/>
          </a:prstGeom>
          <a:solidFill>
            <a:srgbClr val="C85A11"/>
          </a:solidFill>
          <a:ln w="12700">
            <a:solidFill>
              <a:srgbClr val="C85A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13048" y="1572768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SQLite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867912" y="2084832"/>
            <a:ext cx="1371600" cy="237744"/>
          </a:xfrm>
          <a:prstGeom prst="rect">
            <a:avLst/>
          </a:prstGeom>
          <a:solidFill>
            <a:srgbClr val="FAE5D3"/>
          </a:solidFill>
          <a:ln w="12700">
            <a:solidFill>
              <a:srgbClr val="FAE5D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67912" y="20848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5A11"/>
                </a:solidFill>
              </a:rPr>
              <a:t>Rules &amp; logs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49624" y="2377440"/>
            <a:ext cx="140817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Extraction rules stored in a database so new rules require no recompile. Rules table + logs table </a:t>
            </a:r>
            <a:r>
              <a:rPr lang="en-US" sz="900" dirty="0" smtClean="0">
                <a:solidFill>
                  <a:srgbClr val="64748B"/>
                </a:solidFill>
              </a:rPr>
              <a:t>- </a:t>
            </a:r>
            <a:r>
              <a:rPr lang="en-US" sz="900" dirty="0">
                <a:solidFill>
                  <a:srgbClr val="64748B"/>
                </a:solidFill>
              </a:rPr>
              <a:t>both actively used at runtime.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77256" y="1554480"/>
            <a:ext cx="1591056" cy="318211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77256" y="1554480"/>
            <a:ext cx="1591056" cy="475488"/>
          </a:xfrm>
          <a:prstGeom prst="rect">
            <a:avLst/>
          </a:prstGeom>
          <a:solidFill>
            <a:srgbClr val="5B3092"/>
          </a:solidFill>
          <a:ln w="12700">
            <a:solidFill>
              <a:srgbClr val="5B309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32120" y="1572768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miniz + pugixml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586984" y="2084832"/>
            <a:ext cx="1371600" cy="237744"/>
          </a:xfrm>
          <a:prstGeom prst="rect">
            <a:avLst/>
          </a:prstGeom>
          <a:solidFill>
            <a:srgbClr val="EBE0F7"/>
          </a:solidFill>
          <a:ln w="12700">
            <a:solidFill>
              <a:srgbClr val="EBE0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86984" y="20848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3092"/>
                </a:solidFill>
              </a:rPr>
              <a:t>DOCX/XLSX parsing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68696" y="2377440"/>
            <a:ext cx="140817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DOCX and XLSX are ZIP archives containing XML. miniz decompresses; pugixml walks the text nodes. No high-level library used.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196328" y="1554480"/>
            <a:ext cx="1591056" cy="318211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196328" y="1554480"/>
            <a:ext cx="1591056" cy="475488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51192" y="1572768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GoogleTest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306056" y="2084832"/>
            <a:ext cx="1371600" cy="237744"/>
          </a:xfrm>
          <a:prstGeom prst="rect">
            <a:avLst/>
          </a:prstGeom>
          <a:solidFill>
            <a:srgbClr val="D5F0E0"/>
          </a:solidFill>
          <a:ln w="12700">
            <a:solidFill>
              <a:srgbClr val="D5F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06056" y="20848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C"/>
                </a:solidFill>
              </a:rPr>
              <a:t>Test framework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287768" y="2377440"/>
            <a:ext cx="140817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Four test files: test_avl_tree, test_rule_engine, test_integration, test_pipeline. Pulled via FetchContent alongside the main build.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49808" y="8229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</a:rPr>
              <a:t>From Python Prototype to C++17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B4A"/>
                </a:solidFill>
              </a:rPr>
              <a:t>Why the first version was scrapped at week </a:t>
            </a:r>
            <a:r>
              <a:rPr lang="en-US" sz="2600" b="1" dirty="0" smtClean="0">
                <a:solidFill>
                  <a:srgbClr val="1C2B4A"/>
                </a:solidFill>
              </a:rPr>
              <a:t>four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2651760" cy="43891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7276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Weeks </a:t>
            </a:r>
            <a:r>
              <a:rPr lang="en-US" sz="1050" b="1" dirty="0" smtClean="0">
                <a:solidFill>
                  <a:srgbClr val="FFFFFF"/>
                </a:solidFill>
              </a:rPr>
              <a:t>1-4  </a:t>
            </a:r>
            <a:r>
              <a:rPr lang="en-US" sz="1050" b="1" dirty="0">
                <a:solidFill>
                  <a:srgbClr val="FFFFFF"/>
                </a:solidFill>
              </a:rPr>
              <a:t>·  Python prototype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08960" y="1664208"/>
            <a:ext cx="274320" cy="2560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572768"/>
            <a:ext cx="265176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57276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Week </a:t>
            </a:r>
            <a:r>
              <a:rPr lang="en-US" sz="1050" b="1" dirty="0" smtClean="0">
                <a:solidFill>
                  <a:srgbClr val="FFFFFF"/>
                </a:solidFill>
              </a:rPr>
              <a:t>4  </a:t>
            </a:r>
            <a:r>
              <a:rPr lang="en-US" sz="1050" b="1" dirty="0">
                <a:solidFill>
                  <a:srgbClr val="FFFFFF"/>
                </a:solidFill>
              </a:rPr>
              <a:t>·  Rewrite decision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664208"/>
            <a:ext cx="274320" cy="2560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572768"/>
            <a:ext cx="2651760" cy="43891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57276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Weeks </a:t>
            </a:r>
            <a:r>
              <a:rPr lang="en-US" sz="1050" b="1" dirty="0" smtClean="0">
                <a:solidFill>
                  <a:srgbClr val="FFFFFF"/>
                </a:solidFill>
              </a:rPr>
              <a:t>4+</a:t>
            </a:r>
            <a:r>
              <a:rPr lang="en-US" sz="1050" b="1" dirty="0" smtClean="0">
                <a:solidFill>
                  <a:srgbClr val="FFFFFF"/>
                </a:solidFill>
              </a:rPr>
              <a:t>  </a:t>
            </a:r>
            <a:r>
              <a:rPr lang="en-US" sz="1050" b="1" dirty="0">
                <a:solidFill>
                  <a:srgbClr val="FFFFFF"/>
                </a:solidFill>
              </a:rPr>
              <a:t>·  C++17 implementation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212848"/>
            <a:ext cx="4114800" cy="2578608"/>
          </a:xfrm>
          <a:prstGeom prst="rect">
            <a:avLst/>
          </a:prstGeom>
          <a:solidFill>
            <a:srgbClr val="FEE2E2"/>
          </a:solidFill>
          <a:ln w="15240">
            <a:solidFill>
              <a:srgbClr val="FCA5A5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230428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91C1C"/>
                </a:solidFill>
              </a:rPr>
              <a:t>Python prototype (deleted)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2688336"/>
            <a:ext cx="3794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python-docx / </a:t>
            </a:r>
            <a:r>
              <a:rPr lang="en-US" sz="1050" dirty="0" err="1">
                <a:solidFill>
                  <a:srgbClr val="1E293B"/>
                </a:solidFill>
              </a:rPr>
              <a:t>openpyxl</a:t>
            </a:r>
            <a:r>
              <a:rPr lang="en-US" sz="1050" dirty="0">
                <a:solidFill>
                  <a:srgbClr val="1E293B"/>
                </a:solidFill>
              </a:rPr>
              <a:t> </a:t>
            </a:r>
            <a:r>
              <a:rPr lang="en-US" sz="1050" dirty="0" smtClean="0">
                <a:solidFill>
                  <a:srgbClr val="1E293B"/>
                </a:solidFill>
              </a:rPr>
              <a:t>- </a:t>
            </a:r>
            <a:r>
              <a:rPr lang="en-US" sz="1050" dirty="0">
                <a:solidFill>
                  <a:srgbClr val="1E293B"/>
                </a:solidFill>
              </a:rPr>
              <a:t>DOCX parsing in one line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Python dict used as AVL tree </a:t>
            </a:r>
            <a:r>
              <a:rPr lang="en-US" sz="1050" dirty="0" smtClean="0">
                <a:solidFill>
                  <a:srgbClr val="1E293B"/>
                </a:solidFill>
              </a:rPr>
              <a:t>- </a:t>
            </a:r>
            <a:r>
              <a:rPr lang="en-US" sz="1050" dirty="0">
                <a:solidFill>
                  <a:srgbClr val="1E293B"/>
                </a:solidFill>
              </a:rPr>
              <a:t>no pointer management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Flask web UI for rules and results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pytest suite for AVL, store, validation, pipeline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B91C1C"/>
                </a:solidFill>
              </a:rPr>
              <a:t>Advisor verdict: off-the-shelf libraries eliminate the hard parts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212848"/>
            <a:ext cx="4114800" cy="2578608"/>
          </a:xfrm>
          <a:prstGeom prst="rect">
            <a:avLst/>
          </a:prstGeom>
          <a:solidFill>
            <a:srgbClr val="D5F0E0"/>
          </a:solidFill>
          <a:ln w="15240">
            <a:solidFill>
              <a:srgbClr val="86EFA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230428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3C"/>
                </a:solidFill>
              </a:rPr>
              <a:t>C++17 rewrite (kept)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2688336"/>
            <a:ext cx="3794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miniz + pugixml: ZIP decompression + XML walking by hand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AVL tree: unique_ptr nodes, 4 rotation cases, check_avl_invariant()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Flask UI removed (COS guidelines: GUI doesn't count)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GoogleTest suite added: test_avl_tree, test_integration, etc.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Same architecture, same JSON format </a:t>
            </a:r>
            <a:r>
              <a:rPr lang="en-US" sz="1050" dirty="0" smtClean="0">
                <a:solidFill>
                  <a:srgbClr val="1E293B"/>
                </a:solidFill>
              </a:rPr>
              <a:t>- </a:t>
            </a:r>
            <a:r>
              <a:rPr lang="en-US" sz="1050" dirty="0">
                <a:solidFill>
                  <a:srgbClr val="1E293B"/>
                </a:solidFill>
              </a:rPr>
              <a:t>reimplemented from scratch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49808" y="8229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</a:rPr>
              <a:t>Requirements </a:t>
            </a:r>
            <a:r>
              <a:rPr lang="en-US" sz="1300" dirty="0" smtClean="0">
                <a:solidFill>
                  <a:srgbClr val="CADCFC"/>
                </a:solidFill>
              </a:rPr>
              <a:t>- </a:t>
            </a:r>
            <a:r>
              <a:rPr lang="en-US" sz="1300" dirty="0">
                <a:solidFill>
                  <a:srgbClr val="CADCFC"/>
                </a:solidFill>
              </a:rPr>
              <a:t>Functional (1 of 2)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B4A"/>
                </a:solidFill>
              </a:rPr>
              <a:t>FR1 </a:t>
            </a:r>
            <a:r>
              <a:rPr lang="en-US" sz="2600" b="1" dirty="0" smtClean="0">
                <a:solidFill>
                  <a:srgbClr val="1C2B4A"/>
                </a:solidFill>
              </a:rPr>
              <a:t>- </a:t>
            </a:r>
            <a:r>
              <a:rPr lang="en-US" sz="2600" b="1" dirty="0">
                <a:solidFill>
                  <a:srgbClr val="1C2B4A"/>
                </a:solidFill>
              </a:rPr>
              <a:t>FR5: Ingestion, parsing, extraction, validation, indexing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536192"/>
            <a:ext cx="1591056" cy="321868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36192"/>
            <a:ext cx="1591056" cy="42062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536192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FR1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93192" y="2011680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75B6"/>
                </a:solidFill>
              </a:rPr>
              <a:t>Directory ingestion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" y="2432304"/>
            <a:ext cx="1371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505456"/>
            <a:ext cx="14081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Recursive scan, SHA-256 deduplication. Files unchanged since last run are skipped </a:t>
            </a:r>
            <a:r>
              <a:rPr lang="en-US" sz="950" dirty="0" smtClean="0">
                <a:solidFill>
                  <a:srgbClr val="64748B"/>
                </a:solidFill>
              </a:rPr>
              <a:t>- </a:t>
            </a:r>
            <a:r>
              <a:rPr lang="en-US" sz="950" dirty="0">
                <a:solidFill>
                  <a:srgbClr val="64748B"/>
                </a:solidFill>
              </a:rPr>
              <a:t>no re-parsing.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039112" y="1536192"/>
            <a:ext cx="1591056" cy="321868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39112" y="1536192"/>
            <a:ext cx="1591056" cy="42062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39112" y="1536192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FR2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112264" y="2011680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7377"/>
                </a:solidFill>
              </a:rPr>
              <a:t>Multi-format parsing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148840" y="2432304"/>
            <a:ext cx="1371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30552" y="2505456"/>
            <a:ext cx="14081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TXT, DOCX, XLSX, PDF (optional). DOCX and XLSX are ZIP+XML; miniz decompresses, pugixml walks text nodes.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758184" y="1536192"/>
            <a:ext cx="1591056" cy="321868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58184" y="1536192"/>
            <a:ext cx="1591056" cy="420624"/>
          </a:xfrm>
          <a:prstGeom prst="rect">
            <a:avLst/>
          </a:prstGeom>
          <a:solidFill>
            <a:srgbClr val="C85A11"/>
          </a:solidFill>
          <a:ln w="12700">
            <a:solidFill>
              <a:srgbClr val="C85A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58184" y="1536192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FR3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831336" y="2011680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85A11"/>
                </a:solidFill>
              </a:rPr>
              <a:t>Rule-based extraction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867912" y="2432304"/>
            <a:ext cx="1371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9624" y="2505456"/>
            <a:ext cx="14081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Regex rules stored in SQLite. Each rule has field name, pattern, file-type filter, anchor_before, anchor_after.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77256" y="1536192"/>
            <a:ext cx="1591056" cy="321868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77256" y="1536192"/>
            <a:ext cx="1591056" cy="420624"/>
          </a:xfrm>
          <a:prstGeom prst="rect">
            <a:avLst/>
          </a:prstGeom>
          <a:solidFill>
            <a:srgbClr val="5B3092"/>
          </a:solidFill>
          <a:ln w="12700">
            <a:solidFill>
              <a:srgbClr val="5B309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77256" y="1536192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FR4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550408" y="2011680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3092"/>
                </a:solidFill>
              </a:rPr>
              <a:t>Normalization &amp; validation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586984" y="2432304"/>
            <a:ext cx="1371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68696" y="2505456"/>
            <a:ext cx="14081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Trim, collapse whitespace, check max_length and required flag. Failed validations are logged, not fatal.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196328" y="1536192"/>
            <a:ext cx="1591056" cy="321868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196328" y="1536192"/>
            <a:ext cx="1591056" cy="420624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96328" y="1536192"/>
            <a:ext cx="15910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FR5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269480" y="2011680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7A3C"/>
                </a:solidFill>
              </a:rPr>
              <a:t>AVL tree indexing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306056" y="2432304"/>
            <a:ext cx="137160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87768" y="2505456"/>
            <a:ext cx="140817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Per-field AVL trees. Supports exact lookup O(log n) and range query O(k + log n). Balance invariant enforced.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8229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</a:rPr>
              <a:t>Requirements </a:t>
            </a:r>
            <a:r>
              <a:rPr lang="en-US" sz="1300" dirty="0" smtClean="0">
                <a:solidFill>
                  <a:srgbClr val="CADCFC"/>
                </a:solidFill>
              </a:rPr>
              <a:t>- </a:t>
            </a:r>
            <a:r>
              <a:rPr lang="en-US" sz="1300" dirty="0">
                <a:solidFill>
                  <a:srgbClr val="CADCFC"/>
                </a:solidFill>
              </a:rPr>
              <a:t>Functional (2 of 2) + Non-Functional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B4A"/>
                </a:solidFill>
              </a:rPr>
              <a:t>FR6 </a:t>
            </a:r>
            <a:r>
              <a:rPr lang="en-US" sz="2600" b="1" dirty="0" smtClean="0">
                <a:solidFill>
                  <a:srgbClr val="1C2B4A"/>
                </a:solidFill>
              </a:rPr>
              <a:t>- </a:t>
            </a:r>
            <a:r>
              <a:rPr lang="en-US" sz="2600" b="1" dirty="0">
                <a:solidFill>
                  <a:srgbClr val="1C2B4A"/>
                </a:solidFill>
              </a:rPr>
              <a:t>FR9: Persistence, keyword search, reports, CLI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536192"/>
            <a:ext cx="1883664" cy="15727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36192"/>
            <a:ext cx="475488" cy="15727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536192"/>
            <a:ext cx="47548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FR6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162763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5B6"/>
                </a:solidFill>
              </a:rPr>
              <a:t>Persistent storage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993392"/>
            <a:ext cx="126187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store.json + one index_&lt;field&gt;.json per field. AVL trees rebuilt from JSON at startup. Survives process restarts.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04872" y="1536192"/>
            <a:ext cx="1883664" cy="15727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04872" y="1536192"/>
            <a:ext cx="475488" cy="15727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04872" y="1536192"/>
            <a:ext cx="47548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FR7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53512" y="162763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377"/>
                </a:solidFill>
              </a:rPr>
              <a:t>Keyword search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53512" y="1993392"/>
            <a:ext cx="126187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Scans documents for a free-text term without prior ingestion. Results saved to search_history.json.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3236976"/>
            <a:ext cx="1883664" cy="15727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236976"/>
            <a:ext cx="475488" cy="1572768"/>
          </a:xfrm>
          <a:prstGeom prst="rect">
            <a:avLst/>
          </a:prstGeom>
          <a:solidFill>
            <a:srgbClr val="C85A11"/>
          </a:solidFill>
          <a:ln w="12700">
            <a:solidFill>
              <a:srgbClr val="C85A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236976"/>
            <a:ext cx="47548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FR8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3328416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5A11"/>
                </a:solidFill>
              </a:rPr>
              <a:t>HTML report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8680" y="3694176"/>
            <a:ext cx="126187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Generated after every ingest run. Shows per-document status, extracted fields. Auto-opens in browser on Windows.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404872" y="3236976"/>
            <a:ext cx="1883664" cy="15727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404872" y="3236976"/>
            <a:ext cx="475488" cy="1572768"/>
          </a:xfrm>
          <a:prstGeom prst="rect">
            <a:avLst/>
          </a:prstGeom>
          <a:solidFill>
            <a:srgbClr val="5B3092"/>
          </a:solidFill>
          <a:ln w="12700">
            <a:solidFill>
              <a:srgbClr val="5B309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04872" y="3236976"/>
            <a:ext cx="47548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FR9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953512" y="3328416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3092"/>
                </a:solidFill>
              </a:rPr>
              <a:t>CLI interface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953512" y="3694176"/>
            <a:ext cx="126187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Subcommands: ingest, query </a:t>
            </a:r>
            <a:r>
              <a:rPr lang="en-US" sz="900" dirty="0" smtClean="0">
                <a:solidFill>
                  <a:srgbClr val="64748B"/>
                </a:solidFill>
              </a:rPr>
              <a:t>-equals/-range</a:t>
            </a:r>
            <a:r>
              <a:rPr lang="en-US" sz="900" dirty="0">
                <a:solidFill>
                  <a:srgbClr val="64748B"/>
                </a:solidFill>
              </a:rPr>
              <a:t>, list, export </a:t>
            </a:r>
            <a:r>
              <a:rPr lang="en-US" sz="900" dirty="0" smtClean="0">
                <a:solidFill>
                  <a:srgbClr val="64748B"/>
                </a:solidFill>
              </a:rPr>
              <a:t>-format</a:t>
            </a:r>
            <a:r>
              <a:rPr lang="en-US" sz="900" dirty="0">
                <a:solidFill>
                  <a:srgbClr val="64748B"/>
                </a:solidFill>
              </a:rPr>
              <a:t>. No args → interactive menu.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17720" y="1536192"/>
            <a:ext cx="4160520" cy="321868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17720" y="1536192"/>
            <a:ext cx="4160520" cy="384048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153619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Non-Functional Requirements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17720" y="1956816"/>
            <a:ext cx="41605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1728" y="206654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5B6"/>
                </a:solidFill>
              </a:rPr>
              <a:t>NFR1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12080" y="206654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Performance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99632" y="2066544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500 docs in &lt; 30s on modern laptop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17720" y="2432304"/>
            <a:ext cx="4160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1728" y="254203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5B6"/>
                </a:solidFill>
              </a:rPr>
              <a:t>NFR2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12080" y="254203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Correctness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99632" y="254203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AVL balance invariant holds after every insert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17720" y="2907792"/>
            <a:ext cx="41605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81728" y="301752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5B6"/>
                </a:solidFill>
              </a:rPr>
              <a:t>NFR3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12080" y="301752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Portability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199632" y="301752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Builds on Windows (MSVC) and Linux (GCC)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17720" y="3383280"/>
            <a:ext cx="4160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81728" y="349300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5B6"/>
                </a:solidFill>
              </a:rPr>
              <a:t>NFR4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212080" y="349300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Resilience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199632" y="3493008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One file failing does not abort the scan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17720" y="3858768"/>
            <a:ext cx="41605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81728" y="396849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5B6"/>
                </a:solidFill>
              </a:rPr>
              <a:t>NFR5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212080" y="3968496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Maintainability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199632" y="3968496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Rules in DB </a:t>
            </a:r>
            <a:r>
              <a:rPr lang="en-US" sz="850" dirty="0" smtClean="0">
                <a:solidFill>
                  <a:srgbClr val="64748B"/>
                </a:solidFill>
              </a:rPr>
              <a:t>- </a:t>
            </a:r>
            <a:r>
              <a:rPr lang="en-US" sz="850" dirty="0">
                <a:solidFill>
                  <a:srgbClr val="64748B"/>
                </a:solidFill>
              </a:rPr>
              <a:t>new rules need no recompile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617720" y="4334256"/>
            <a:ext cx="4160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81728" y="444398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5B6"/>
                </a:solidFill>
              </a:rPr>
              <a:t>NFR6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212080" y="444398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Usability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199632" y="4443984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Interactive menu navigable without docs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49808" y="8229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</a:rPr>
              <a:t>Requirements </a:t>
            </a:r>
            <a:r>
              <a:rPr lang="en-US" sz="1300" dirty="0" smtClean="0">
                <a:solidFill>
                  <a:srgbClr val="CADCFC"/>
                </a:solidFill>
              </a:rPr>
              <a:t>- </a:t>
            </a:r>
            <a:r>
              <a:rPr lang="en-US" sz="1300" dirty="0">
                <a:solidFill>
                  <a:srgbClr val="CADCFC"/>
                </a:solidFill>
              </a:rPr>
              <a:t>Use Case Analysis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B4A"/>
                </a:solidFill>
              </a:rPr>
              <a:t>Six use cases covering all interaction paths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536192"/>
            <a:ext cx="2697480" cy="162763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36192"/>
            <a:ext cx="2697480" cy="32918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3619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UC1 </a:t>
            </a:r>
            <a:r>
              <a:rPr lang="en-US" sz="1050" b="1" dirty="0" smtClean="0">
                <a:solidFill>
                  <a:srgbClr val="FFFFFF"/>
                </a:solidFill>
              </a:rPr>
              <a:t>- </a:t>
            </a:r>
            <a:r>
              <a:rPr lang="en-US" sz="1050" b="1" dirty="0">
                <a:solidFill>
                  <a:srgbClr val="FFFFFF"/>
                </a:solidFill>
              </a:rPr>
              <a:t>Ingest collection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" y="1920240"/>
            <a:ext cx="247802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</a:rPr>
              <a:t>Actor: </a:t>
            </a:r>
            <a:r>
              <a:rPr lang="en-US" sz="900" dirty="0">
                <a:solidFill>
                  <a:srgbClr val="1E293B"/>
                </a:solidFill>
              </a:rPr>
              <a:t>End user
</a:t>
            </a:r>
            <a:r>
              <a:rPr lang="en-US" sz="900" b="1" dirty="0">
                <a:solidFill>
                  <a:srgbClr val="1E293B"/>
                </a:solidFill>
              </a:rPr>
              <a:t>Pre: </a:t>
            </a:r>
            <a:r>
              <a:rPr lang="en-US" sz="900" dirty="0">
                <a:solidFill>
                  <a:srgbClr val="1E293B"/>
                </a:solidFill>
              </a:rPr>
              <a:t>Directory exists
ingest </a:t>
            </a:r>
            <a:r>
              <a:rPr lang="en-US" sz="900" dirty="0" smtClean="0">
                <a:solidFill>
                  <a:srgbClr val="1E293B"/>
                </a:solidFill>
              </a:rPr>
              <a:t>-</a:t>
            </a:r>
            <a:r>
              <a:rPr lang="en-US" sz="900" dirty="0" err="1" smtClean="0">
                <a:solidFill>
                  <a:srgbClr val="1E293B"/>
                </a:solidFill>
              </a:rPr>
              <a:t>watch_dir</a:t>
            </a:r>
            <a:r>
              <a:rPr lang="en-US" sz="900" dirty="0" smtClean="0">
                <a:solidFill>
                  <a:srgbClr val="1E293B"/>
                </a:solidFill>
              </a:rPr>
              <a:t> </a:t>
            </a:r>
            <a:r>
              <a:rPr lang="en-US" sz="900" dirty="0">
                <a:solidFill>
                  <a:srgbClr val="1E293B"/>
                </a:solidFill>
              </a:rPr>
              <a:t>→ scan → hash check → parse → extract → index → report.html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536192"/>
            <a:ext cx="2697480" cy="162763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536192"/>
            <a:ext cx="2697480" cy="3291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53619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UC2 </a:t>
            </a:r>
            <a:r>
              <a:rPr lang="en-US" sz="1050" b="1" dirty="0" smtClean="0">
                <a:solidFill>
                  <a:srgbClr val="FFFFFF"/>
                </a:solidFill>
              </a:rPr>
              <a:t>- </a:t>
            </a:r>
            <a:r>
              <a:rPr lang="en-US" sz="1050" b="1" dirty="0">
                <a:solidFill>
                  <a:srgbClr val="FFFFFF"/>
                </a:solidFill>
              </a:rPr>
              <a:t>Exact field query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10128" y="1920240"/>
            <a:ext cx="247802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</a:rPr>
              <a:t>Actor: </a:t>
            </a:r>
            <a:r>
              <a:rPr lang="en-US" sz="900" dirty="0">
                <a:solidFill>
                  <a:srgbClr val="1E293B"/>
                </a:solidFill>
              </a:rPr>
              <a:t>End user
</a:t>
            </a:r>
            <a:r>
              <a:rPr lang="en-US" sz="900" b="1" dirty="0">
                <a:solidFill>
                  <a:srgbClr val="1E293B"/>
                </a:solidFill>
              </a:rPr>
              <a:t>Pre: </a:t>
            </a:r>
            <a:r>
              <a:rPr lang="en-US" sz="900" dirty="0">
                <a:solidFill>
                  <a:srgbClr val="1E293B"/>
                </a:solidFill>
              </a:rPr>
              <a:t>Store populated
query </a:t>
            </a:r>
            <a:r>
              <a:rPr lang="en-US" sz="900" dirty="0" smtClean="0">
                <a:solidFill>
                  <a:srgbClr val="1E293B"/>
                </a:solidFill>
              </a:rPr>
              <a:t>-field </a:t>
            </a:r>
            <a:r>
              <a:rPr lang="en-US" sz="900" dirty="0" err="1">
                <a:solidFill>
                  <a:srgbClr val="1E293B"/>
                </a:solidFill>
              </a:rPr>
              <a:t>invoice_number</a:t>
            </a:r>
            <a:r>
              <a:rPr lang="en-US" sz="900" dirty="0">
                <a:solidFill>
                  <a:srgbClr val="1E293B"/>
                </a:solidFill>
              </a:rPr>
              <a:t> </a:t>
            </a:r>
            <a:r>
              <a:rPr lang="en-US" sz="900" dirty="0" smtClean="0">
                <a:solidFill>
                  <a:srgbClr val="1E293B"/>
                </a:solidFill>
              </a:rPr>
              <a:t>-equals </a:t>
            </a:r>
            <a:r>
              <a:rPr lang="en-US" sz="900" dirty="0">
                <a:solidFill>
                  <a:srgbClr val="1E293B"/>
                </a:solidFill>
              </a:rPr>
              <a:t>INV-001 → AVL search → print results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80760" y="1536192"/>
            <a:ext cx="2697480" cy="162763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536192"/>
            <a:ext cx="2697480" cy="329184"/>
          </a:xfrm>
          <a:prstGeom prst="rect">
            <a:avLst/>
          </a:prstGeom>
          <a:solidFill>
            <a:srgbClr val="C85A11"/>
          </a:solidFill>
          <a:ln w="12700">
            <a:solidFill>
              <a:srgbClr val="C85A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53619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UC3 </a:t>
            </a:r>
            <a:r>
              <a:rPr lang="en-US" sz="1050" b="1" dirty="0" smtClean="0">
                <a:solidFill>
                  <a:srgbClr val="FFFFFF"/>
                </a:solidFill>
              </a:rPr>
              <a:t>- </a:t>
            </a:r>
            <a:r>
              <a:rPr lang="en-US" sz="1050" b="1" dirty="0">
                <a:solidFill>
                  <a:srgbClr val="FFFFFF"/>
                </a:solidFill>
              </a:rPr>
              <a:t>Range query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90488" y="1920240"/>
            <a:ext cx="247802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</a:rPr>
              <a:t>Actor: </a:t>
            </a:r>
            <a:r>
              <a:rPr lang="en-US" sz="900" dirty="0">
                <a:solidFill>
                  <a:srgbClr val="1E293B"/>
                </a:solidFill>
              </a:rPr>
              <a:t>End user
</a:t>
            </a:r>
            <a:r>
              <a:rPr lang="en-US" sz="900" b="1" dirty="0">
                <a:solidFill>
                  <a:srgbClr val="1E293B"/>
                </a:solidFill>
              </a:rPr>
              <a:t>Pre: </a:t>
            </a:r>
            <a:r>
              <a:rPr lang="en-US" sz="900" dirty="0">
                <a:solidFill>
                  <a:srgbClr val="1E293B"/>
                </a:solidFill>
              </a:rPr>
              <a:t>Numeric field exists
query </a:t>
            </a:r>
            <a:r>
              <a:rPr lang="en-US" sz="900" dirty="0" smtClean="0">
                <a:solidFill>
                  <a:srgbClr val="1E293B"/>
                </a:solidFill>
              </a:rPr>
              <a:t>-field </a:t>
            </a:r>
            <a:r>
              <a:rPr lang="en-US" sz="900" dirty="0">
                <a:solidFill>
                  <a:srgbClr val="1E293B"/>
                </a:solidFill>
              </a:rPr>
              <a:t>total </a:t>
            </a:r>
            <a:r>
              <a:rPr lang="en-US" sz="900" dirty="0" smtClean="0">
                <a:solidFill>
                  <a:srgbClr val="1E293B"/>
                </a:solidFill>
              </a:rPr>
              <a:t>-range </a:t>
            </a:r>
            <a:r>
              <a:rPr lang="en-US" sz="900" dirty="0">
                <a:solidFill>
                  <a:srgbClr val="1E293B"/>
                </a:solidFill>
              </a:rPr>
              <a:t>1000 5000 → AVL in-order traversal in [low, high]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291840"/>
            <a:ext cx="2697480" cy="162763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291840"/>
            <a:ext cx="2697480" cy="329184"/>
          </a:xfrm>
          <a:prstGeom prst="rect">
            <a:avLst/>
          </a:prstGeom>
          <a:solidFill>
            <a:srgbClr val="5B3092"/>
          </a:solidFill>
          <a:ln w="12700">
            <a:solidFill>
              <a:srgbClr val="5B309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29184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UC4 </a:t>
            </a:r>
            <a:r>
              <a:rPr lang="en-US" sz="1050" b="1" dirty="0" smtClean="0">
                <a:solidFill>
                  <a:srgbClr val="FFFFFF"/>
                </a:solidFill>
              </a:rPr>
              <a:t>- </a:t>
            </a:r>
            <a:r>
              <a:rPr lang="en-US" sz="1050" b="1" dirty="0">
                <a:solidFill>
                  <a:srgbClr val="FFFFFF"/>
                </a:solidFill>
              </a:rPr>
              <a:t>Keyword search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9768" y="3675888"/>
            <a:ext cx="247802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</a:rPr>
              <a:t>Actor: </a:t>
            </a:r>
            <a:r>
              <a:rPr lang="en-US" sz="900" dirty="0">
                <a:solidFill>
                  <a:srgbClr val="1E293B"/>
                </a:solidFill>
              </a:rPr>
              <a:t>End user
</a:t>
            </a:r>
            <a:r>
              <a:rPr lang="en-US" sz="900" b="1" dirty="0">
                <a:solidFill>
                  <a:srgbClr val="1E293B"/>
                </a:solidFill>
              </a:rPr>
              <a:t>Pre: </a:t>
            </a:r>
            <a:r>
              <a:rPr lang="en-US" sz="900" dirty="0">
                <a:solidFill>
                  <a:srgbClr val="1E293B"/>
                </a:solidFill>
              </a:rPr>
              <a:t>None
Interactive menu → enter dir + keyword → parse files → count occurrences → save session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0" y="3291840"/>
            <a:ext cx="2697480" cy="162763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3291840"/>
            <a:ext cx="2697480" cy="329184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329184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UC5 </a:t>
            </a:r>
            <a:r>
              <a:rPr lang="en-US" sz="1050" b="1" dirty="0" smtClean="0">
                <a:solidFill>
                  <a:srgbClr val="FFFFFF"/>
                </a:solidFill>
              </a:rPr>
              <a:t>- </a:t>
            </a:r>
            <a:r>
              <a:rPr lang="en-US" sz="1050" b="1" dirty="0">
                <a:solidFill>
                  <a:srgbClr val="FFFFFF"/>
                </a:solidFill>
              </a:rPr>
              <a:t>Export data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10128" y="3675888"/>
            <a:ext cx="247802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</a:rPr>
              <a:t>Actor: </a:t>
            </a:r>
            <a:r>
              <a:rPr lang="en-US" sz="900" dirty="0">
                <a:solidFill>
                  <a:srgbClr val="1E293B"/>
                </a:solidFill>
              </a:rPr>
              <a:t>End user
</a:t>
            </a:r>
            <a:r>
              <a:rPr lang="en-US" sz="900" b="1" dirty="0">
                <a:solidFill>
                  <a:srgbClr val="1E293B"/>
                </a:solidFill>
              </a:rPr>
              <a:t>Pre: </a:t>
            </a:r>
            <a:r>
              <a:rPr lang="en-US" sz="900" dirty="0">
                <a:solidFill>
                  <a:srgbClr val="1E293B"/>
                </a:solidFill>
              </a:rPr>
              <a:t>Store populated
export </a:t>
            </a:r>
            <a:r>
              <a:rPr lang="en-US" sz="900" dirty="0" smtClean="0">
                <a:solidFill>
                  <a:srgbClr val="1E293B"/>
                </a:solidFill>
              </a:rPr>
              <a:t>-format </a:t>
            </a:r>
            <a:r>
              <a:rPr lang="en-US" sz="900" dirty="0" err="1">
                <a:solidFill>
                  <a:srgbClr val="1E293B"/>
                </a:solidFill>
              </a:rPr>
              <a:t>json</a:t>
            </a:r>
            <a:r>
              <a:rPr lang="en-US" sz="900" dirty="0">
                <a:solidFill>
                  <a:srgbClr val="1E293B"/>
                </a:solidFill>
              </a:rPr>
              <a:t> </a:t>
            </a:r>
            <a:r>
              <a:rPr lang="en-US" sz="900" dirty="0" smtClean="0">
                <a:solidFill>
                  <a:srgbClr val="1E293B"/>
                </a:solidFill>
              </a:rPr>
              <a:t>-out </a:t>
            </a:r>
            <a:r>
              <a:rPr lang="en-US" sz="900" dirty="0">
                <a:solidFill>
                  <a:srgbClr val="1E293B"/>
                </a:solidFill>
              </a:rPr>
              <a:t>results.json  OR  </a:t>
            </a:r>
            <a:r>
              <a:rPr lang="en-US" sz="900" dirty="0" smtClean="0">
                <a:solidFill>
                  <a:srgbClr val="1E293B"/>
                </a:solidFill>
              </a:rPr>
              <a:t>-format </a:t>
            </a:r>
            <a:r>
              <a:rPr lang="en-US" sz="900" dirty="0">
                <a:solidFill>
                  <a:srgbClr val="1E293B"/>
                </a:solidFill>
              </a:rPr>
              <a:t>csv (flat rows)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80760" y="3291840"/>
            <a:ext cx="2697480" cy="162763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80760" y="3291840"/>
            <a:ext cx="2697480" cy="329184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329184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UC6 </a:t>
            </a:r>
            <a:r>
              <a:rPr lang="en-US" sz="1050" b="1" dirty="0" smtClean="0">
                <a:solidFill>
                  <a:srgbClr val="FFFFFF"/>
                </a:solidFill>
              </a:rPr>
              <a:t>- </a:t>
            </a:r>
            <a:r>
              <a:rPr lang="en-US" sz="1050" b="1" dirty="0">
                <a:solidFill>
                  <a:srgbClr val="FFFFFF"/>
                </a:solidFill>
              </a:rPr>
              <a:t>View search history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90488" y="3675888"/>
            <a:ext cx="247802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</a:rPr>
              <a:t>Actor: </a:t>
            </a:r>
            <a:r>
              <a:rPr lang="en-US" sz="900" dirty="0">
                <a:solidFill>
                  <a:srgbClr val="1E293B"/>
                </a:solidFill>
              </a:rPr>
              <a:t>End user
</a:t>
            </a:r>
            <a:r>
              <a:rPr lang="en-US" sz="900" b="1" dirty="0">
                <a:solidFill>
                  <a:srgbClr val="1E293B"/>
                </a:solidFill>
              </a:rPr>
              <a:t>Pre: </a:t>
            </a:r>
            <a:r>
              <a:rPr lang="en-US" sz="900" dirty="0">
                <a:solidFill>
                  <a:srgbClr val="1E293B"/>
                </a:solidFill>
              </a:rPr>
              <a:t>Prior searches exist
Interactive menu option 2 → get_all_searches() sorted by timestamp descending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49808" y="8229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</a:rPr>
              <a:t>Requirements </a:t>
            </a:r>
            <a:r>
              <a:rPr lang="en-US" sz="1300" dirty="0" smtClean="0">
                <a:solidFill>
                  <a:srgbClr val="CADCFC"/>
                </a:solidFill>
              </a:rPr>
              <a:t>- </a:t>
            </a:r>
            <a:r>
              <a:rPr lang="en-US" sz="1300" dirty="0">
                <a:solidFill>
                  <a:srgbClr val="CADCFC"/>
                </a:solidFill>
              </a:rPr>
              <a:t>Traceability Matrix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B4A"/>
                </a:solidFill>
              </a:rPr>
              <a:t>Every FR maps to a module and a test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536192"/>
            <a:ext cx="8503920" cy="34747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361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Functional Requirement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54680" y="15361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Implemented 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89320" y="15361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Tested by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920240"/>
            <a:ext cx="8503920" cy="338328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956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75B6"/>
                </a:solidFill>
              </a:rPr>
              <a:t>FR1 </a:t>
            </a:r>
            <a:r>
              <a:rPr lang="en-US" sz="900" b="1" dirty="0" smtClean="0">
                <a:solidFill>
                  <a:srgbClr val="2E75B6"/>
                </a:solidFill>
              </a:rPr>
              <a:t>- </a:t>
            </a:r>
            <a:r>
              <a:rPr lang="en-US" sz="900" b="1" dirty="0">
                <a:solidFill>
                  <a:srgbClr val="2E75B6"/>
                </a:solidFill>
              </a:rPr>
              <a:t>Directory ingestion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54680" y="1956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ingestion_service.cpp: run_scan()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89320" y="1956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test_pipeline (processed/skipped counts)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267712"/>
            <a:ext cx="85039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3042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75B6"/>
                </a:solidFill>
              </a:rPr>
              <a:t>FR2 </a:t>
            </a:r>
            <a:r>
              <a:rPr lang="en-US" sz="900" b="1" dirty="0" smtClean="0">
                <a:solidFill>
                  <a:srgbClr val="2E75B6"/>
                </a:solidFill>
              </a:rPr>
              <a:t>- </a:t>
            </a:r>
            <a:r>
              <a:rPr lang="en-US" sz="900" b="1" dirty="0">
                <a:solidFill>
                  <a:srgbClr val="2E75B6"/>
                </a:solidFill>
              </a:rPr>
              <a:t>Multi-format parsing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54680" y="23042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parsers/: factory, docx, xlsx, txt, pdf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89320" y="23042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test_pipeline (sample.txt), manual DOCX/XLSX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615184"/>
            <a:ext cx="8503920" cy="338328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651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75B6"/>
                </a:solidFill>
              </a:rPr>
              <a:t>FR3 </a:t>
            </a:r>
            <a:r>
              <a:rPr lang="en-US" sz="900" b="1" dirty="0" smtClean="0">
                <a:solidFill>
                  <a:srgbClr val="2E75B6"/>
                </a:solidFill>
              </a:rPr>
              <a:t>- </a:t>
            </a:r>
            <a:r>
              <a:rPr lang="en-US" sz="900" b="1" dirty="0">
                <a:solidFill>
                  <a:srgbClr val="2E75B6"/>
                </a:solidFill>
              </a:rPr>
              <a:t>Rule-based extraction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154680" y="2651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rules/engine.cpp: apply_rules()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89320" y="2651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test_rule_engine (4 test cases)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2962656"/>
            <a:ext cx="85039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9992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75B6"/>
                </a:solidFill>
              </a:rPr>
              <a:t>FR4 </a:t>
            </a:r>
            <a:r>
              <a:rPr lang="en-US" sz="900" b="1" dirty="0" smtClean="0">
                <a:solidFill>
                  <a:srgbClr val="2E75B6"/>
                </a:solidFill>
              </a:rPr>
              <a:t>- </a:t>
            </a:r>
            <a:r>
              <a:rPr lang="en-US" sz="900" b="1" dirty="0">
                <a:solidFill>
                  <a:srgbClr val="2E75B6"/>
                </a:solidFill>
              </a:rPr>
              <a:t>Normalization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154680" y="29992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validation/: normalizer, validator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89320" y="29992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test_rule_engine: validation constraint test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3310128"/>
            <a:ext cx="8503920" cy="338328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3467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75B6"/>
                </a:solidFill>
              </a:rPr>
              <a:t>FR5 </a:t>
            </a:r>
            <a:r>
              <a:rPr lang="en-US" sz="900" b="1" dirty="0" smtClean="0">
                <a:solidFill>
                  <a:srgbClr val="2E75B6"/>
                </a:solidFill>
              </a:rPr>
              <a:t>- </a:t>
            </a:r>
            <a:r>
              <a:rPr lang="en-US" sz="900" b="1" dirty="0">
                <a:solidFill>
                  <a:srgbClr val="2E75B6"/>
                </a:solidFill>
              </a:rPr>
              <a:t>AVL indexing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154680" y="33467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store/avl_tree.cpp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89320" y="33467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test_avl_tree (5 test cases)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3657600"/>
            <a:ext cx="85039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6941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75B6"/>
                </a:solidFill>
              </a:rPr>
              <a:t>FR6 </a:t>
            </a:r>
            <a:r>
              <a:rPr lang="en-US" sz="900" b="1" dirty="0" smtClean="0">
                <a:solidFill>
                  <a:srgbClr val="2E75B6"/>
                </a:solidFill>
              </a:rPr>
              <a:t>- </a:t>
            </a:r>
            <a:r>
              <a:rPr lang="en-US" sz="900" b="1" dirty="0">
                <a:solidFill>
                  <a:srgbClr val="2E75B6"/>
                </a:solidFill>
              </a:rPr>
              <a:t>Persistence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154680" y="36941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store/store.cpp: save() / load()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89320" y="36941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test_integration: save/reload round-trip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4005072"/>
            <a:ext cx="8503920" cy="338328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041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75B6"/>
                </a:solidFill>
              </a:rPr>
              <a:t>FR7 </a:t>
            </a:r>
            <a:r>
              <a:rPr lang="en-US" sz="900" b="1" dirty="0" smtClean="0">
                <a:solidFill>
                  <a:srgbClr val="2E75B6"/>
                </a:solidFill>
              </a:rPr>
              <a:t>- </a:t>
            </a:r>
            <a:r>
              <a:rPr lang="en-US" sz="900" b="1" dirty="0">
                <a:solidFill>
                  <a:srgbClr val="2E75B6"/>
                </a:solidFill>
              </a:rPr>
              <a:t>Keyword search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154680" y="4041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services/keyword_search_service.cpp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89320" y="4041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Acceptance test AT-FR7 (manual)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0040" y="4352544"/>
            <a:ext cx="850392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4389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75B6"/>
                </a:solidFill>
              </a:rPr>
              <a:t>FR8 </a:t>
            </a:r>
            <a:r>
              <a:rPr lang="en-US" sz="900" b="1" dirty="0" smtClean="0">
                <a:solidFill>
                  <a:srgbClr val="2E75B6"/>
                </a:solidFill>
              </a:rPr>
              <a:t>- </a:t>
            </a:r>
            <a:r>
              <a:rPr lang="en-US" sz="900" b="1" dirty="0">
                <a:solidFill>
                  <a:srgbClr val="2E75B6"/>
                </a:solidFill>
              </a:rPr>
              <a:t>HTML report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154680" y="4389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services/report_service.cpp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989320" y="4389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Acceptance test AT-FR8 (manual)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0040" y="4700016"/>
            <a:ext cx="8503920" cy="338328"/>
          </a:xfrm>
          <a:prstGeom prst="rect">
            <a:avLst/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4736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E75B6"/>
                </a:solidFill>
              </a:rPr>
              <a:t>FR9 </a:t>
            </a:r>
            <a:r>
              <a:rPr lang="en-US" sz="900" b="1" dirty="0" smtClean="0">
                <a:solidFill>
                  <a:srgbClr val="2E75B6"/>
                </a:solidFill>
              </a:rPr>
              <a:t>- </a:t>
            </a:r>
            <a:r>
              <a:rPr lang="en-US" sz="900" b="1" dirty="0">
                <a:solidFill>
                  <a:srgbClr val="2E75B6"/>
                </a:solidFill>
              </a:rPr>
              <a:t>CLI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154680" y="4736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src/main.cpp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989320" y="47365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</a:rPr>
              <a:t>Acceptance test AT-FR9 (manual)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49808" y="8229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</a:rPr>
              <a:t>Design </a:t>
            </a:r>
            <a:r>
              <a:rPr lang="en-US" sz="1300" dirty="0" smtClean="0">
                <a:solidFill>
                  <a:srgbClr val="CADCFC"/>
                </a:solidFill>
              </a:rPr>
              <a:t>- </a:t>
            </a:r>
            <a:r>
              <a:rPr lang="en-US" sz="1300" dirty="0">
                <a:solidFill>
                  <a:srgbClr val="CADCFC"/>
                </a:solidFill>
              </a:rPr>
              <a:t>System Architecture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B4A"/>
                </a:solidFill>
              </a:rPr>
              <a:t>Six-layer architecture: each layer calls only the one below it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517904"/>
            <a:ext cx="8503920" cy="512064"/>
          </a:xfrm>
          <a:prstGeom prst="rect">
            <a:avLst/>
          </a:prstGeom>
          <a:solidFill>
            <a:srgbClr val="D6E4F0"/>
          </a:solidFill>
          <a:ln w="15240">
            <a:solidFill>
              <a:srgbClr val="2E75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517904"/>
            <a:ext cx="2651760" cy="5120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17904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Layer 1 </a:t>
            </a:r>
            <a:r>
              <a:rPr lang="en-US" sz="950" b="1" dirty="0" smtClean="0">
                <a:solidFill>
                  <a:srgbClr val="FFFFFF"/>
                </a:solidFill>
              </a:rPr>
              <a:t>- </a:t>
            </a:r>
            <a:r>
              <a:rPr lang="en-US" sz="950" b="1" dirty="0">
                <a:solidFill>
                  <a:srgbClr val="FFFFFF"/>
                </a:solidFill>
              </a:rPr>
              <a:t>CLI / main.cpp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08960" y="1609344"/>
            <a:ext cx="106984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1609344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75B6"/>
                </a:solidFill>
              </a:rPr>
              <a:t>ingest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70248" y="1609344"/>
            <a:ext cx="106984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0248" y="1609344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75B6"/>
                </a:solidFill>
              </a:rPr>
              <a:t>query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31536" y="1609344"/>
            <a:ext cx="106984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31536" y="1609344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75B6"/>
                </a:solidFill>
              </a:rPr>
              <a:t>list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92824" y="1609344"/>
            <a:ext cx="106984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92824" y="1609344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75B6"/>
                </a:solidFill>
              </a:rPr>
              <a:t>export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754112" y="1609344"/>
            <a:ext cx="1069848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54112" y="1609344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75B6"/>
                </a:solidFill>
              </a:rPr>
              <a:t>menu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732520" y="2029968"/>
            <a:ext cx="9144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084832"/>
            <a:ext cx="8503920" cy="512064"/>
          </a:xfrm>
          <a:prstGeom prst="rect">
            <a:avLst/>
          </a:prstGeom>
          <a:solidFill>
            <a:srgbClr val="C8ECEB"/>
          </a:solidFill>
          <a:ln w="15240">
            <a:solidFill>
              <a:srgbClr val="0D73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084832"/>
            <a:ext cx="2651760" cy="5120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084832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Layer 2 </a:t>
            </a:r>
            <a:r>
              <a:rPr lang="en-US" sz="950" b="1" dirty="0" smtClean="0">
                <a:solidFill>
                  <a:srgbClr val="FFFFFF"/>
                </a:solidFill>
              </a:rPr>
              <a:t>- </a:t>
            </a:r>
            <a:r>
              <a:rPr lang="en-US" sz="950" b="1" dirty="0">
                <a:solidFill>
                  <a:srgbClr val="FFFFFF"/>
                </a:solidFill>
              </a:rPr>
              <a:t>Services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08960" y="2176272"/>
            <a:ext cx="1844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2176272"/>
            <a:ext cx="1844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7377"/>
                </a:solidFill>
              </a:rPr>
              <a:t>ingestion_service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44440" y="2176272"/>
            <a:ext cx="1844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44440" y="2176272"/>
            <a:ext cx="1844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7377"/>
                </a:solidFill>
              </a:rPr>
              <a:t>keyword_search_service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79920" y="2176272"/>
            <a:ext cx="1844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79920" y="2176272"/>
            <a:ext cx="1844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7377"/>
                </a:solidFill>
              </a:rPr>
              <a:t>report_service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732520" y="2596896"/>
            <a:ext cx="9144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2651760"/>
            <a:ext cx="8503920" cy="512064"/>
          </a:xfrm>
          <a:prstGeom prst="rect">
            <a:avLst/>
          </a:prstGeom>
          <a:solidFill>
            <a:srgbClr val="FAE5D3"/>
          </a:solidFill>
          <a:ln w="15240">
            <a:solidFill>
              <a:srgbClr val="C85A1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2651760"/>
            <a:ext cx="2651760" cy="512064"/>
          </a:xfrm>
          <a:prstGeom prst="rect">
            <a:avLst/>
          </a:prstGeom>
          <a:solidFill>
            <a:srgbClr val="C85A11"/>
          </a:solidFill>
          <a:ln w="12700">
            <a:solidFill>
              <a:srgbClr val="C85A1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265176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Layer 3 </a:t>
            </a:r>
            <a:r>
              <a:rPr lang="en-US" sz="950" b="1" dirty="0" smtClean="0">
                <a:solidFill>
                  <a:srgbClr val="FFFFFF"/>
                </a:solidFill>
              </a:rPr>
              <a:t>- </a:t>
            </a:r>
            <a:r>
              <a:rPr lang="en-US" sz="950" b="1" dirty="0">
                <a:solidFill>
                  <a:srgbClr val="FFFFFF"/>
                </a:solidFill>
              </a:rPr>
              <a:t>Rule Engine + Validation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108960" y="2743200"/>
            <a:ext cx="1844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85A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08960" y="2743200"/>
            <a:ext cx="1844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5A11"/>
                </a:solidFill>
              </a:rPr>
              <a:t>engine.cpp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44440" y="2743200"/>
            <a:ext cx="1844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85A1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44440" y="2743200"/>
            <a:ext cx="1844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5A11"/>
                </a:solidFill>
              </a:rPr>
              <a:t>normalizer.cpp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979920" y="2743200"/>
            <a:ext cx="1844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85A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79920" y="2743200"/>
            <a:ext cx="1844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5A11"/>
                </a:solidFill>
              </a:rPr>
              <a:t>validator.cpp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732520" y="3163824"/>
            <a:ext cx="91440" cy="54864"/>
          </a:xfrm>
          <a:prstGeom prst="rect">
            <a:avLst/>
          </a:prstGeom>
          <a:solidFill>
            <a:srgbClr val="C85A11"/>
          </a:solidFill>
          <a:ln w="12700">
            <a:solidFill>
              <a:srgbClr val="C85A1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3218688"/>
            <a:ext cx="8503920" cy="512064"/>
          </a:xfrm>
          <a:prstGeom prst="rect">
            <a:avLst/>
          </a:prstGeom>
          <a:solidFill>
            <a:srgbClr val="EBE0F7"/>
          </a:solidFill>
          <a:ln w="15240">
            <a:solidFill>
              <a:srgbClr val="5B309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3218688"/>
            <a:ext cx="2651760" cy="512064"/>
          </a:xfrm>
          <a:prstGeom prst="rect">
            <a:avLst/>
          </a:prstGeom>
          <a:solidFill>
            <a:srgbClr val="5B3092"/>
          </a:solidFill>
          <a:ln w="12700">
            <a:solidFill>
              <a:srgbClr val="5B309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321868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Layer 4 </a:t>
            </a:r>
            <a:r>
              <a:rPr lang="en-US" sz="950" b="1" dirty="0" smtClean="0">
                <a:solidFill>
                  <a:srgbClr val="FFFFFF"/>
                </a:solidFill>
              </a:rPr>
              <a:t>- </a:t>
            </a:r>
            <a:r>
              <a:rPr lang="en-US" sz="950" b="1" dirty="0">
                <a:solidFill>
                  <a:srgbClr val="FFFFFF"/>
                </a:solidFill>
              </a:rPr>
              <a:t>Parsers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108960" y="3310128"/>
            <a:ext cx="136017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5B309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08960" y="3310128"/>
            <a:ext cx="13601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3092"/>
                </a:solidFill>
              </a:rPr>
              <a:t>txt_parser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60570" y="3310128"/>
            <a:ext cx="136017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5B309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60570" y="3310128"/>
            <a:ext cx="13601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3092"/>
                </a:solidFill>
              </a:rPr>
              <a:t>docx_parser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012180" y="3310128"/>
            <a:ext cx="136017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5B309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12180" y="3310128"/>
            <a:ext cx="13601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3092"/>
                </a:solidFill>
              </a:rPr>
              <a:t>xlsx_parser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463790" y="3310128"/>
            <a:ext cx="136017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5B309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63790" y="3310128"/>
            <a:ext cx="13601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3092"/>
                </a:solidFill>
              </a:rPr>
              <a:t>pdf_parser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732520" y="3730752"/>
            <a:ext cx="91440" cy="54864"/>
          </a:xfrm>
          <a:prstGeom prst="rect">
            <a:avLst/>
          </a:prstGeom>
          <a:solidFill>
            <a:srgbClr val="5B3092"/>
          </a:solidFill>
          <a:ln w="12700">
            <a:solidFill>
              <a:srgbClr val="5B309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0040" y="3785616"/>
            <a:ext cx="8503920" cy="512064"/>
          </a:xfrm>
          <a:prstGeom prst="rect">
            <a:avLst/>
          </a:prstGeom>
          <a:solidFill>
            <a:srgbClr val="D5F0E0"/>
          </a:solidFill>
          <a:ln w="15240">
            <a:solidFill>
              <a:srgbClr val="1A7A3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0040" y="3785616"/>
            <a:ext cx="2651760" cy="512064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1480" y="3785616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Layer 5 </a:t>
            </a:r>
            <a:r>
              <a:rPr lang="en-US" sz="950" b="1" dirty="0" smtClean="0">
                <a:solidFill>
                  <a:srgbClr val="FFFFFF"/>
                </a:solidFill>
              </a:rPr>
              <a:t>- </a:t>
            </a:r>
            <a:r>
              <a:rPr lang="en-US" sz="950" b="1" dirty="0">
                <a:solidFill>
                  <a:srgbClr val="FFFFFF"/>
                </a:solidFill>
              </a:rPr>
              <a:t>Store + AVL Tree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108960" y="3877056"/>
            <a:ext cx="1844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108960" y="3877056"/>
            <a:ext cx="1844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7A3C"/>
                </a:solidFill>
              </a:rPr>
              <a:t>ExtractionStore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044440" y="3877056"/>
            <a:ext cx="1844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44440" y="3877056"/>
            <a:ext cx="1844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7A3C"/>
                </a:solidFill>
              </a:rPr>
              <a:t>AVLTree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979920" y="3877056"/>
            <a:ext cx="1844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79920" y="3877056"/>
            <a:ext cx="1844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7A3C"/>
                </a:solidFill>
              </a:rPr>
              <a:t>SearchHistory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732520" y="4297680"/>
            <a:ext cx="91440" cy="54864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20040" y="4352544"/>
            <a:ext cx="8503920" cy="512064"/>
          </a:xfrm>
          <a:prstGeom prst="rect">
            <a:avLst/>
          </a:prstGeom>
          <a:solidFill>
            <a:srgbClr val="D6E4F0"/>
          </a:solidFill>
          <a:ln w="15240">
            <a:solidFill>
              <a:srgbClr val="1C2B4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20040" y="4352544"/>
            <a:ext cx="2651760" cy="512064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11480" y="4352544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</a:rPr>
              <a:t>Layer 6 </a:t>
            </a:r>
            <a:r>
              <a:rPr lang="en-US" sz="950" b="1" dirty="0" smtClean="0">
                <a:solidFill>
                  <a:srgbClr val="FFFFFF"/>
                </a:solidFill>
              </a:rPr>
              <a:t>- </a:t>
            </a:r>
            <a:r>
              <a:rPr lang="en-US" sz="950" b="1" dirty="0">
                <a:solidFill>
                  <a:srgbClr val="FFFFFF"/>
                </a:solidFill>
              </a:rPr>
              <a:t>Database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3108960" y="4443984"/>
            <a:ext cx="1844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108960" y="4443984"/>
            <a:ext cx="1844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B4A"/>
                </a:solidFill>
              </a:rPr>
              <a:t>database.cpp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044440" y="4443984"/>
            <a:ext cx="1844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44440" y="4443984"/>
            <a:ext cx="1844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B4A"/>
                </a:solidFill>
              </a:rPr>
              <a:t>rules_repo.cpp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979920" y="4443984"/>
            <a:ext cx="18440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979920" y="4443984"/>
            <a:ext cx="1844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B4A"/>
                </a:solidFill>
              </a:rPr>
              <a:t>logs_repo.cpp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49808" y="8229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</a:rPr>
              <a:t>Design </a:t>
            </a:r>
            <a:r>
              <a:rPr lang="en-US" sz="1300" dirty="0" smtClean="0">
                <a:solidFill>
                  <a:srgbClr val="CADCFC"/>
                </a:solidFill>
              </a:rPr>
              <a:t>- </a:t>
            </a:r>
            <a:r>
              <a:rPr lang="en-US" sz="1300" dirty="0">
                <a:solidFill>
                  <a:srgbClr val="CADCFC"/>
                </a:solidFill>
              </a:rPr>
              <a:t>AVL Tree Algorithm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B4A"/>
                </a:solidFill>
              </a:rPr>
              <a:t>Self-balancing BST: O(log n) guaranteed regardless of insert order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536192"/>
            <a:ext cx="4023360" cy="320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36192"/>
            <a:ext cx="91440" cy="3200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276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</a:rPr>
              <a:t>Why AVL over plain BST?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993392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Invoice numbers INV-001, INV-002... are inserted in sorted order. A plain BST degrades to a linked list of height n </a:t>
            </a:r>
            <a:r>
              <a:rPr lang="en-US" sz="1050" dirty="0" smtClean="0">
                <a:solidFill>
                  <a:srgbClr val="1E293B"/>
                </a:solidFill>
              </a:rPr>
              <a:t>- </a:t>
            </a:r>
            <a:r>
              <a:rPr lang="en-US" sz="1050" dirty="0">
                <a:solidFill>
                  <a:srgbClr val="1E293B"/>
                </a:solidFill>
              </a:rPr>
              <a:t>O(n) search.
</a:t>
            </a:r>
            <a:r>
              <a:rPr lang="en-US" sz="1050" b="1" dirty="0">
                <a:solidFill>
                  <a:srgbClr val="1E293B"/>
                </a:solidFill>
              </a:rPr>
              <a:t>The AVL invariant:</a:t>
            </a:r>
            <a:r>
              <a:rPr lang="en-US" sz="1050" dirty="0">
                <a:solidFill>
                  <a:srgbClr val="1E293B"/>
                </a:solidFill>
              </a:rPr>
              <a:t> |height(left) − height(right)| ≤ 1 at every node, keeps height at O(log n) regardless of insert order.
</a:t>
            </a:r>
            <a:r>
              <a:rPr lang="en-US" sz="1050" b="1" dirty="0">
                <a:solidFill>
                  <a:srgbClr val="1E293B"/>
                </a:solidFill>
              </a:rPr>
              <a:t>Node stores:</a:t>
            </a:r>
            <a:r>
              <a:rPr lang="en-US" sz="1050" dirty="0">
                <a:solidFill>
                  <a:srgbClr val="1E293B"/>
                </a:solidFill>
              </a:rPr>
              <a:t> string key + std::set&lt;string&gt; of doc_ids. Multiple documents with the same field value share one tree node.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1536192"/>
            <a:ext cx="4251960" cy="320040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536192"/>
            <a:ext cx="4251960" cy="34747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53619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Four rotation cases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883664"/>
            <a:ext cx="438912" cy="5120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883664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75504" y="192024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bf &gt; 1, left child bf ≥ 0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175504" y="213969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5B6"/>
                </a:solidFill>
              </a:rPr>
              <a:t>Single right rotation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487168"/>
            <a:ext cx="438912" cy="5120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487168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75504" y="252374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bf &lt; −1, right child bf ≤ 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175504" y="274320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7377"/>
                </a:solidFill>
              </a:rPr>
              <a:t>Single left rotation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3090672"/>
            <a:ext cx="438912" cy="512064"/>
          </a:xfrm>
          <a:prstGeom prst="rect">
            <a:avLst/>
          </a:prstGeom>
          <a:solidFill>
            <a:srgbClr val="C85A11"/>
          </a:solidFill>
          <a:ln w="12700">
            <a:solidFill>
              <a:srgbClr val="C85A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090672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75504" y="312724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bf &gt; 1, left child bf &lt; 0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175504" y="334670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85A11"/>
                </a:solidFill>
              </a:rPr>
              <a:t>Left-rotate child → right-rotate node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3694176"/>
            <a:ext cx="438912" cy="512064"/>
          </a:xfrm>
          <a:prstGeom prst="rect">
            <a:avLst/>
          </a:prstGeom>
          <a:solidFill>
            <a:srgbClr val="5B3092"/>
          </a:solidFill>
          <a:ln w="12700">
            <a:solidFill>
              <a:srgbClr val="5B309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694176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75504" y="373075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bf &lt; −1, right child bf &gt; 0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175504" y="395020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3092"/>
                </a:solidFill>
              </a:rPr>
              <a:t>Right-rotate child → left-rotate node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0" y="4718304"/>
            <a:ext cx="4251960" cy="384048"/>
          </a:xfrm>
          <a:prstGeom prst="rect">
            <a:avLst/>
          </a:prstGeom>
          <a:solidFill>
            <a:srgbClr val="D5F0E0"/>
          </a:solidFill>
          <a:ln w="15240">
            <a:solidFill>
              <a:srgbClr val="1A7A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472744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7A3C"/>
                </a:solidFill>
              </a:rPr>
              <a:t>Range query: O(k + log n)  ·  Traverse in order, prune subtrees outside [low, high]  ·  Boundary values included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73152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Summary </a:t>
            </a:r>
            <a:r>
              <a:rPr lang="en-US" sz="2200" b="1" dirty="0" smtClean="0">
                <a:solidFill>
                  <a:srgbClr val="FFFFFF"/>
                </a:solidFill>
              </a:rPr>
              <a:t>- </a:t>
            </a:r>
            <a:r>
              <a:rPr lang="en-US" sz="2200" b="1" dirty="0">
                <a:solidFill>
                  <a:srgbClr val="FFFFFF"/>
                </a:solidFill>
              </a:rPr>
              <a:t>Sections 1 to 3.2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274320" cy="3291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7043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2070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Real problem: document archives that can't be queried by field value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682496"/>
            <a:ext cx="274320" cy="3291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8249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71907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Python prototype worked but off-the-shelf libs eliminated the hard CS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194560"/>
            <a:ext cx="274320" cy="3291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9456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23113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Rewritten in C++17 </a:t>
            </a:r>
            <a:r>
              <a:rPr lang="en-US" sz="1100" dirty="0" smtClean="0">
                <a:solidFill>
                  <a:srgbClr val="CADCFC"/>
                </a:solidFill>
              </a:rPr>
              <a:t>- </a:t>
            </a:r>
            <a:r>
              <a:rPr lang="en-US" sz="1100" dirty="0">
                <a:solidFill>
                  <a:srgbClr val="CADCFC"/>
                </a:solidFill>
              </a:rPr>
              <a:t>parsers, AVL tree, rule engine all from scratch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706624"/>
            <a:ext cx="274320" cy="3291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70662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274320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9 functional requirements (</a:t>
            </a:r>
            <a:r>
              <a:rPr lang="en-US" sz="1100" dirty="0" smtClean="0">
                <a:solidFill>
                  <a:srgbClr val="CADCFC"/>
                </a:solidFill>
              </a:rPr>
              <a:t>FR1-FR9</a:t>
            </a:r>
            <a:r>
              <a:rPr lang="en-US" sz="1100" dirty="0">
                <a:solidFill>
                  <a:srgbClr val="CADCFC"/>
                </a:solidFill>
              </a:rPr>
              <a:t>), 6 NFRs, 6 use cases fully specified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218688"/>
            <a:ext cx="274320" cy="3291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1868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255264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Every FR traced to an implementation module and a test case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730752"/>
            <a:ext cx="274320" cy="3291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3075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376732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Six-layer architecture </a:t>
            </a:r>
            <a:r>
              <a:rPr lang="en-US" sz="1100" dirty="0" smtClean="0">
                <a:solidFill>
                  <a:srgbClr val="CADCFC"/>
                </a:solidFill>
              </a:rPr>
              <a:t>- </a:t>
            </a:r>
            <a:r>
              <a:rPr lang="en-US" sz="1100" dirty="0">
                <a:solidFill>
                  <a:srgbClr val="CADCFC"/>
                </a:solidFill>
              </a:rPr>
              <a:t>CLI → Services → Rule Engine → Parsers → Store → DB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4242816"/>
            <a:ext cx="274320" cy="3291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24281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427939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AVL tree: 4 rotation cases, O(log n) insert/search, O(k+log n) range query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Next: Rule engine design (3.3) → Parsers (3.4) → Database (3.5) → Implementation → Testing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73152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45784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 smtClean="0">
                <a:solidFill>
                  <a:srgbClr val="FFFFFF"/>
                </a:solidFill>
              </a:rPr>
              <a:t>Thank you for the attention!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189022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</TotalTime>
  <Words>1385</Words>
  <Application>Microsoft Office PowerPoint</Application>
  <PresentationFormat>On-screen Show (16:9)</PresentationFormat>
  <Paragraphs>253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 Search and Extraction System</dc:title>
  <dc:subject>PptxGenJS Presentation</dc:subject>
  <dc:creator>AUBG COS Senior Project</dc:creator>
  <cp:lastModifiedBy>Bobi Todorov</cp:lastModifiedBy>
  <cp:revision>6</cp:revision>
  <dcterms:created xsi:type="dcterms:W3CDTF">2026-03-15T01:29:30Z</dcterms:created>
  <dcterms:modified xsi:type="dcterms:W3CDTF">2026-03-15T12:22:08Z</dcterms:modified>
</cp:coreProperties>
</file>